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9"/>
  </p:notesMasterIdLst>
  <p:sldIdLst>
    <p:sldId id="257" r:id="rId2"/>
    <p:sldId id="258" r:id="rId3"/>
    <p:sldId id="259" r:id="rId4"/>
    <p:sldId id="260" r:id="rId5"/>
    <p:sldId id="261" r:id="rId6"/>
    <p:sldId id="262" r:id="rId7"/>
    <p:sldId id="263" r:id="rId8"/>
  </p:sldIdLst>
  <p:sldSz cx="9144000" cy="5143500" type="screen16x9"/>
  <p:notesSz cx="6858000" cy="9144000"/>
  <p:embeddedFontLst>
    <p:embeddedFont>
      <p:font typeface="Proxima Nova" panose="02000506030000020004" pitchFamily="2"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4"/>
  </p:normalViewPr>
  <p:slideViewPr>
    <p:cSldViewPr snapToGrid="0">
      <p:cViewPr varScale="1">
        <p:scale>
          <a:sx n="141" d="100"/>
          <a:sy n="141" d="100"/>
        </p:scale>
        <p:origin x="800"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today’s fast-paced educational environment, real-time data integration is no longer a luxury—it’s a necessity. EdConnect leverages AI to process thousands of data points per second, ensuring that vital information flows effortlessly between educators, students, and administrators. This powerful automation allows teachers to concentrate on what truly matters—educating students—while administrators gain real-time insights into institutional performance. The result? Enhanced learning outcomes, improved efficiency, and a connected educational ecosystem where communication is seamless and secure.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Traditional school data systems rely on rigid structures that fail to adapt to the evolving needs of classrooms. EdConnect changes the game by dynamically structuring learning data in real-time. With intelligent privacy controls, teachers can securely share student progress with parents while ensuring compliance with educational privacy laws. Furthermore, AI-powered personalization allows educators to tailor instruction to individual student needs, fostering a more effective learning environment.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Effective resource allocation is a major challenge in education, and AI is stepping in to transform how schools manage their resources. EdConnect ensures that materials, staff, and support systems are dynamically distributed based on real-time classroom needs. By automating administrative workflows, the platform reduces the burden on educators, giving them more time to focus on students. Additionally, EdConnect fosters collaboration by enabling seamless communication between schools, teachers, and community partners, ensuring a more enriched learning environment.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With the increasing digitalization of education, student data privacy is a top concern. EdConnect employs AI-driven data filtering to automatically detect and remove sensitive student information before it is shared. This ensures compliance with FERPA and other educational privacy laws while maintaining a secure data ecosystem. Additionally, EdConnect dynamically manages access control, ensuring that only authorized personnel can access specific data sets. This intelligent privacy protection fosters a safe and compliant learning environment for all stakeholders.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True educational integration goes beyond simple data management—it connects classrooms, schools, and partners into a cohesive learning network. EdConnect enables seamless data flow between different stakeholders, ensuring that information is shared securely and efficiently. With AI-driven automation, partnerships between schools, libraries, and educational service providers become effortless. Additionally, EdConnect supports the secure integration of third-party EdTech tools, allowing institutions to enhance learning without worrying about compatibility or compliance issues.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With EdConnect’s AI-powered system, K-12 education is no longer a collection of isolated classrooms—it’s a connected learning community. Information flows securely and seamlessly between teachers, students, and families, ensuring that learning is always informed by real-time insights. Schools and external organizations can quickly form new partnerships to expand educational opportunities. Additionally, AI-driven optimization allows for dynamic, student-centered learning, making education more effective and adaptable than ever before.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EdConnect represents the next frontier in AI-driven education. By harnessing intelligent data integration, the platform is revolutionizing how learning happens, making education more efficient, secure, and student-focused. With cutting-edge AI-driven security measures, it ensures compliance while enabling seamless collaboration. Moreover, EdConnect is designed for the future—its scalable infrastructure adapts to emerging educational trends, guaranteeing long-term impact. The future of K-12 education is here, and it’s powered by AI.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bg>
      <p:bgPr>
        <a:solidFill>
          <a:schemeClr val="dk1"/>
        </a:solidFill>
        <a:effectLst/>
      </p:bgPr>
    </p:bg>
    <p:spTree>
      <p:nvGrpSpPr>
        <p:cNvPr id="1" name="Shape 13"/>
        <p:cNvGrpSpPr/>
        <p:nvPr/>
      </p:nvGrpSpPr>
      <p:grpSpPr>
        <a:xfrm>
          <a:off x="0" y="0"/>
          <a:ext cx="0" cy="0"/>
          <a:chOff x="0" y="0"/>
          <a:chExt cx="0" cy="0"/>
        </a:xfrm>
      </p:grpSpPr>
      <p:cxnSp>
        <p:nvCxnSpPr>
          <p:cNvPr id="14" name="Google Shape;14;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5" name="Google Shape;15;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304875"/>
            <a:ext cx="85206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4"/>
          <p:cNvSpPr txBox="1">
            <a:spLocks noGrp="1"/>
          </p:cNvSpPr>
          <p:nvPr>
            <p:ph type="subTitle" idx="2"/>
          </p:nvPr>
        </p:nvSpPr>
        <p:spPr>
          <a:xfrm>
            <a:off x="387975" y="789025"/>
            <a:ext cx="8520600" cy="833100"/>
          </a:xfrm>
          <a:prstGeom prst="rect">
            <a:avLst/>
          </a:prstGeom>
        </p:spPr>
        <p:txBody>
          <a:bodyPr spcFirstLastPara="1" wrap="square" lIns="91425" tIns="91425" rIns="91425" bIns="91425" anchor="t" anchorCtr="0">
            <a:normAutofit/>
          </a:bodyPr>
          <a:lstStyle>
            <a:lvl1pPr lvl="0">
              <a:spcBef>
                <a:spcPts val="0"/>
              </a:spcBef>
              <a:spcAft>
                <a:spcPts val="0"/>
              </a:spcAft>
              <a:buSzPts val="15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userDrawn="1">
  <p:cSld name="TITLE_AND_BODY_1">
    <p:spTree>
      <p:nvGrpSpPr>
        <p:cNvPr id="1" name="Shape 23"/>
        <p:cNvGrpSpPr/>
        <p:nvPr/>
      </p:nvGrpSpPr>
      <p:grpSpPr>
        <a:xfrm>
          <a:off x="0" y="0"/>
          <a:ext cx="0" cy="0"/>
          <a:chOff x="0" y="0"/>
          <a:chExt cx="0" cy="0"/>
        </a:xfrm>
      </p:grpSpPr>
      <p:sp>
        <p:nvSpPr>
          <p:cNvPr id="24" name="Google Shape;24;p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title" hasCustomPrompt="1"/>
          </p:nvPr>
        </p:nvSpPr>
        <p:spPr>
          <a:xfrm>
            <a:off x="311700" y="0"/>
            <a:ext cx="8520600" cy="712925"/>
          </a:xfrm>
          <a:prstGeom prst="rect">
            <a:avLst/>
          </a:prstGeom>
        </p:spPr>
        <p:txBody>
          <a:bodyPr spcFirstLastPara="1" wrap="square" lIns="91425" tIns="91425" rIns="91425" bIns="91425" anchor="ctr"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dirty="0"/>
              <a:t>Agenda</a:t>
            </a:r>
            <a:endParaRPr dirty="0"/>
          </a:p>
        </p:txBody>
      </p:sp>
      <p:sp>
        <p:nvSpPr>
          <p:cNvPr id="26" name="Google Shape;26;p5"/>
          <p:cNvSpPr txBox="1">
            <a:spLocks noGrp="1"/>
          </p:cNvSpPr>
          <p:nvPr>
            <p:ph type="body" idx="1"/>
          </p:nvPr>
        </p:nvSpPr>
        <p:spPr>
          <a:xfrm>
            <a:off x="311700" y="1194734"/>
            <a:ext cx="8520600" cy="3850965"/>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dirty="0"/>
          </a:p>
        </p:txBody>
      </p:sp>
      <p:sp>
        <p:nvSpPr>
          <p:cNvPr id="27" name="Google Shape;27;p5"/>
          <p:cNvSpPr txBox="1">
            <a:spLocks noGrp="1"/>
          </p:cNvSpPr>
          <p:nvPr>
            <p:ph type="sldNum" idx="12"/>
          </p:nvPr>
        </p:nvSpPr>
        <p:spPr>
          <a:xfrm>
            <a:off x="8832297" y="4863993"/>
            <a:ext cx="311411" cy="192824"/>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10" name="Subtitle 1">
            <a:extLst>
              <a:ext uri="{FF2B5EF4-FFF2-40B4-BE49-F238E27FC236}">
                <a16:creationId xmlns:a16="http://schemas.microsoft.com/office/drawing/2014/main" id="{0D296A4F-FF01-A06E-7AAA-3D203B6399A4}"/>
              </a:ext>
            </a:extLst>
          </p:cNvPr>
          <p:cNvSpPr>
            <a:spLocks noGrp="1"/>
          </p:cNvSpPr>
          <p:nvPr>
            <p:ph type="subTitle" idx="13"/>
          </p:nvPr>
        </p:nvSpPr>
        <p:spPr>
          <a:xfrm>
            <a:off x="311699" y="712926"/>
            <a:ext cx="8520599" cy="481810"/>
          </a:xfrm>
        </p:spPr>
        <p:txBody>
          <a:bodyPr tIns="0" anchor="t">
            <a:normAutofit/>
          </a:bodyPr>
          <a:lstStyle>
            <a:lvl1pPr marL="0" indent="0" algn="l">
              <a:lnSpc>
                <a:spcPct val="100000"/>
              </a:lnSpc>
              <a:buNone/>
              <a:defRPr sz="16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body" idx="1"/>
          </p:nvPr>
        </p:nvSpPr>
        <p:spPr>
          <a:xfrm>
            <a:off x="311700" y="13810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a:spLocks noGrp="1"/>
          </p:cNvSpPr>
          <p:nvPr>
            <p:ph type="subTitle" idx="3"/>
          </p:nvPr>
        </p:nvSpPr>
        <p:spPr>
          <a:xfrm>
            <a:off x="386975" y="8640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34" name="Google Shape;34;p6"/>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w="19050" cap="flat" cmpd="sng">
            <a:solidFill>
              <a:schemeClr val="dk1"/>
            </a:solidFill>
            <a:prstDash val="solid"/>
            <a:round/>
            <a:headEnd type="none" w="sm" len="sm"/>
            <a:tailEnd type="none" w="sm" len="sm"/>
          </a:ln>
        </p:spPr>
      </p:cxn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48" name="Google Shape;48;p10"/>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 name="Google Shape;49;p10"/>
          <p:cNvSpPr txBox="1">
            <a:spLocks noGrp="1"/>
          </p:cNvSpPr>
          <p:nvPr>
            <p:ph type="body" idx="1"/>
          </p:nvPr>
        </p:nvSpPr>
        <p:spPr>
          <a:xfrm>
            <a:off x="3117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0" name="Google Shape;50;p10"/>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1" name="Google Shape;51;p10"/>
          <p:cNvSpPr txBox="1">
            <a:spLocks noGrp="1"/>
          </p:cNvSpPr>
          <p:nvPr>
            <p:ph type="subTitle" idx="3"/>
          </p:nvPr>
        </p:nvSpPr>
        <p:spPr>
          <a:xfrm>
            <a:off x="386975" y="7878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52" name="Google Shape;52;p10"/>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
        <p:nvSpPr>
          <p:cNvPr id="53" name="Google Shape;53;p10"/>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2"/>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60" name="Google Shape;60;p12"/>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Revolutionizing K-12 Data Management</a:t>
            </a:r>
          </a:p>
        </p:txBody>
      </p:sp>
      <p:sp>
        <p:nvSpPr>
          <p:cNvPr id="4" name="Subtitle 3"/>
          <p:cNvSpPr>
            <a:spLocks noGrp="1"/>
          </p:cNvSpPr>
          <p:nvPr>
            <p:ph type="subTitle" idx="13"/>
          </p:nvPr>
        </p:nvSpPr>
        <p:spPr/>
        <p:txBody>
          <a:bodyPr>
            <a:normAutofit/>
          </a:bodyPr>
          <a:lstStyle/>
          <a:p>
            <a:r>
              <a:t>AI-powered integration for real-time educational workflows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27577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7577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2757785"/>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AI-Powered Data Processing:</a:t>
            </a:r>
            <a:r>
              <a:rPr sz="1300" b="0" i="0">
                <a:solidFill>
                  <a:srgbClr val="616161"/>
                </a:solidFill>
                <a:latin typeface="Proxima Nova"/>
              </a:rPr>
              <a:t> EdConnect processes thousands of data points per second, ensuring seamless information flow among educators, students, and administrators.</a:t>
            </a:r>
          </a:p>
          <a:p>
            <a:pPr marL="228600" lvl="1" indent="-91440" algn="l">
              <a:spcBef>
                <a:spcPts val="1200"/>
              </a:spcBef>
              <a:spcAft>
                <a:spcPts val="0"/>
              </a:spcAft>
              <a:buSzPct val="100000"/>
              <a:buFont typeface="Arial"/>
              <a:buChar char="•"/>
            </a:pPr>
            <a:r>
              <a:rPr sz="1300" b="1" i="0">
                <a:solidFill>
                  <a:srgbClr val="616161"/>
                </a:solidFill>
                <a:latin typeface="Proxima Nova"/>
              </a:rPr>
              <a:t>Enhanced Learning Outcomes:</a:t>
            </a:r>
            <a:r>
              <a:rPr sz="1300" b="0" i="0">
                <a:solidFill>
                  <a:srgbClr val="616161"/>
                </a:solidFill>
                <a:latin typeface="Proxima Nova"/>
              </a:rPr>
              <a:t> Optimized workflows allow educators to focus more on teaching, leading to improved student performance.</a:t>
            </a:r>
          </a:p>
          <a:p>
            <a:pPr marL="228600" lvl="1" indent="-91440" algn="l">
              <a:spcBef>
                <a:spcPts val="1200"/>
              </a:spcBef>
              <a:spcAft>
                <a:spcPts val="0"/>
              </a:spcAft>
              <a:buSzPct val="100000"/>
              <a:buFont typeface="Arial"/>
              <a:buChar char="•"/>
            </a:pPr>
            <a:r>
              <a:rPr sz="1300" b="1" i="0">
                <a:solidFill>
                  <a:srgbClr val="616161"/>
                </a:solidFill>
                <a:latin typeface="Proxima Nova"/>
              </a:rPr>
              <a:t>Seamless Stakeholder Communication:</a:t>
            </a:r>
            <a:r>
              <a:rPr sz="1300" b="0" i="0">
                <a:solidFill>
                  <a:srgbClr val="616161"/>
                </a:solidFill>
                <a:latin typeface="Proxima Nova"/>
              </a:rPr>
              <a:t> Secure data sharing ensures real-time updates for teachers, parents, and students.</a:t>
            </a:r>
          </a:p>
        </p:txBody>
      </p:sp>
      <p:sp>
        <p:nvSpPr>
          <p:cNvPr id="10" name="Rectangle 9"/>
          <p:cNvSpPr/>
          <p:nvPr/>
        </p:nvSpPr>
        <p:spPr>
          <a:xfrm>
            <a:off x="4724400" y="1508670"/>
            <a:ext cx="4190999" cy="27577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descr="tmpoizpmwf1.png"/>
          <p:cNvPicPr>
            <a:picLocks noChangeAspect="1"/>
          </p:cNvPicPr>
          <p:nvPr/>
        </p:nvPicPr>
        <p:blipFill>
          <a:blip r:embed="rId3"/>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4400" y="3947070"/>
            <a:ext cx="4190999" cy="152400"/>
          </a:xfrm>
          <a:prstGeom prst="rect">
            <a:avLst/>
          </a:prstGeom>
          <a:noFill/>
          <a:ln>
            <a:noFill/>
          </a:ln>
        </p:spPr>
        <p:txBody>
          <a:bodyPr wrap="square" lIns="0" tIns="0" rIns="0" bIns="0" anchor="t">
            <a:spAutoFit/>
          </a:bodyPr>
          <a:lstStyle/>
          <a:p>
            <a:pPr algn="r">
              <a:spcAft>
                <a:spcPts val="1200"/>
              </a:spcAft>
            </a:pPr>
            <a:r>
              <a:rPr sz="900" b="0" i="0">
                <a:solidFill>
                  <a:srgbClr val="616161"/>
                </a:solidFill>
                <a:latin typeface="Proxima Nova"/>
              </a:rPr>
              <a:t>Photo by stem.T4L on Unsplash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Smart Learning Data Organization</a:t>
            </a:r>
          </a:p>
        </p:txBody>
      </p:sp>
      <p:sp>
        <p:nvSpPr>
          <p:cNvPr id="4" name="Subtitle 3"/>
          <p:cNvSpPr>
            <a:spLocks noGrp="1"/>
          </p:cNvSpPr>
          <p:nvPr>
            <p:ph type="subTitle" idx="13"/>
          </p:nvPr>
        </p:nvSpPr>
        <p:spPr/>
        <p:txBody>
          <a:bodyPr>
            <a:normAutofit/>
          </a:bodyPr>
          <a:lstStyle/>
          <a:p>
            <a:r>
              <a:t>Dynamic, AI-driven structuring of student information</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2692300"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4223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2235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wmyvfhbi.png"/>
          <p:cNvPicPr>
            <a:picLocks noChangeAspect="1"/>
          </p:cNvPicPr>
          <p:nvPr/>
        </p:nvPicPr>
        <p:blipFill>
          <a:blip r:embed="rId3"/>
          <a:stretch>
            <a:fillRect/>
          </a:stretch>
        </p:blipFill>
        <p:spPr>
          <a:xfrm>
            <a:off x="1422350" y="1508670"/>
            <a:ext cx="304800" cy="304800"/>
          </a:xfrm>
          <a:prstGeom prst="rect">
            <a:avLst/>
          </a:prstGeom>
        </p:spPr>
      </p:pic>
      <p:sp>
        <p:nvSpPr>
          <p:cNvPr id="13" name="TextBox 12"/>
          <p:cNvSpPr txBox="1"/>
          <p:nvPr/>
        </p:nvSpPr>
        <p:spPr>
          <a:xfrm>
            <a:off x="22860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Dynamic Data Structuring</a:t>
            </a:r>
          </a:p>
          <a:p>
            <a:pPr algn="ctr">
              <a:spcAft>
                <a:spcPts val="1200"/>
              </a:spcAft>
            </a:pPr>
            <a:r>
              <a:rPr sz="1300" b="0" i="0">
                <a:solidFill>
                  <a:srgbClr val="616161"/>
                </a:solidFill>
                <a:latin typeface="Proxima Nova"/>
              </a:rPr>
              <a:t>EdConnect adapts in real-time, creating an intelligent data ecosystem beyond static gradebooks.</a:t>
            </a:r>
          </a:p>
        </p:txBody>
      </p:sp>
      <p:sp>
        <p:nvSpPr>
          <p:cNvPr id="14" name="Rectangle 13"/>
          <p:cNvSpPr/>
          <p:nvPr/>
        </p:nvSpPr>
        <p:spPr>
          <a:xfrm>
            <a:off x="3225700" y="1508670"/>
            <a:ext cx="2692449"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19451"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19451"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c3gtcrcu.png"/>
          <p:cNvPicPr>
            <a:picLocks noChangeAspect="1"/>
          </p:cNvPicPr>
          <p:nvPr/>
        </p:nvPicPr>
        <p:blipFill>
          <a:blip r:embed="rId4"/>
          <a:stretch>
            <a:fillRect/>
          </a:stretch>
        </p:blipFill>
        <p:spPr>
          <a:xfrm>
            <a:off x="4419451" y="1508670"/>
            <a:ext cx="304800" cy="304800"/>
          </a:xfrm>
          <a:prstGeom prst="rect">
            <a:avLst/>
          </a:prstGeom>
        </p:spPr>
      </p:pic>
      <p:sp>
        <p:nvSpPr>
          <p:cNvPr id="18" name="TextBox 17"/>
          <p:cNvSpPr txBox="1"/>
          <p:nvPr/>
        </p:nvSpPr>
        <p:spPr>
          <a:xfrm>
            <a:off x="3225700" y="1965870"/>
            <a:ext cx="269244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Secure &amp; Personalized Sharing</a:t>
            </a:r>
          </a:p>
          <a:p>
            <a:pPr algn="ctr">
              <a:spcAft>
                <a:spcPts val="1200"/>
              </a:spcAft>
            </a:pPr>
            <a:r>
              <a:rPr sz="1300" b="0" i="0">
                <a:solidFill>
                  <a:srgbClr val="616161"/>
                </a:solidFill>
                <a:latin typeface="Proxima Nova"/>
              </a:rPr>
              <a:t>AI ensures privacy-compliant data views for teachers, parents, and students.</a:t>
            </a:r>
          </a:p>
        </p:txBody>
      </p:sp>
      <p:sp>
        <p:nvSpPr>
          <p:cNvPr id="19" name="Rectangle 18"/>
          <p:cNvSpPr/>
          <p:nvPr/>
        </p:nvSpPr>
        <p:spPr>
          <a:xfrm>
            <a:off x="6222950" y="1508670"/>
            <a:ext cx="2692300"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16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6700" y="1508670"/>
            <a:ext cx="304800" cy="304800"/>
          </a:xfrm>
          <a:prstGeom prst="rect">
            <a:avLst/>
          </a:prstGeom>
          <a:noFill/>
          <a:ln>
            <a:noFill/>
          </a:ln>
        </p:spPr>
        <p:txBody>
          <a:bodyPr wrap="square" lIns="0" tIns="0" rIns="0" bIns="0" anchor="t">
            <a:spAutoFit/>
          </a:bodyPr>
          <a:lstStyle/>
          <a:p>
            <a:pPr algn="ctr"/>
            <a:endParaRPr/>
          </a:p>
        </p:txBody>
      </p:sp>
      <p:pic>
        <p:nvPicPr>
          <p:cNvPr id="22" name="Picture 21" descr="tmpxr6075o8.png"/>
          <p:cNvPicPr>
            <a:picLocks noChangeAspect="1"/>
          </p:cNvPicPr>
          <p:nvPr/>
        </p:nvPicPr>
        <p:blipFill>
          <a:blip r:embed="rId5"/>
          <a:stretch>
            <a:fillRect/>
          </a:stretch>
        </p:blipFill>
        <p:spPr>
          <a:xfrm>
            <a:off x="7416700" y="1508670"/>
            <a:ext cx="304800" cy="304800"/>
          </a:xfrm>
          <a:prstGeom prst="rect">
            <a:avLst/>
          </a:prstGeom>
        </p:spPr>
      </p:pic>
      <p:sp>
        <p:nvSpPr>
          <p:cNvPr id="23" name="TextBox 22"/>
          <p:cNvSpPr txBox="1"/>
          <p:nvPr/>
        </p:nvSpPr>
        <p:spPr>
          <a:xfrm>
            <a:off x="622295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Custom Learning Pathways</a:t>
            </a:r>
          </a:p>
          <a:p>
            <a:pPr algn="ctr">
              <a:spcAft>
                <a:spcPts val="1200"/>
              </a:spcAft>
            </a:pPr>
            <a:r>
              <a:rPr sz="1300" b="0" i="0">
                <a:solidFill>
                  <a:srgbClr val="616161"/>
                </a:solidFill>
                <a:latin typeface="Proxima Nova"/>
              </a:rPr>
              <a:t>Personalized insights help educators tailor learning strategies based on student progress.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Resource Allocation Intelligence</a:t>
            </a:r>
          </a:p>
        </p:txBody>
      </p:sp>
      <p:sp>
        <p:nvSpPr>
          <p:cNvPr id="4" name="Subtitle 3"/>
          <p:cNvSpPr>
            <a:spLocks noGrp="1"/>
          </p:cNvSpPr>
          <p:nvPr>
            <p:ph type="subTitle" idx="13"/>
          </p:nvPr>
        </p:nvSpPr>
        <p:spPr/>
        <p:txBody>
          <a:bodyPr>
            <a:normAutofit/>
          </a:bodyPr>
          <a:lstStyle/>
          <a:p>
            <a:r>
              <a:t>AI-powered optimization of educational resources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2692300"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4223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2235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bp7g3zt6.png"/>
          <p:cNvPicPr>
            <a:picLocks noChangeAspect="1"/>
          </p:cNvPicPr>
          <p:nvPr/>
        </p:nvPicPr>
        <p:blipFill>
          <a:blip r:embed="rId3"/>
          <a:stretch>
            <a:fillRect/>
          </a:stretch>
        </p:blipFill>
        <p:spPr>
          <a:xfrm>
            <a:off x="1422350" y="1508670"/>
            <a:ext cx="304800" cy="304800"/>
          </a:xfrm>
          <a:prstGeom prst="rect">
            <a:avLst/>
          </a:prstGeom>
        </p:spPr>
      </p:pic>
      <p:sp>
        <p:nvSpPr>
          <p:cNvPr id="13" name="TextBox 12"/>
          <p:cNvSpPr txBox="1"/>
          <p:nvPr/>
        </p:nvSpPr>
        <p:spPr>
          <a:xfrm>
            <a:off x="22860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Real-Time Resource Distribution</a:t>
            </a:r>
          </a:p>
          <a:p>
            <a:pPr algn="ctr">
              <a:spcAft>
                <a:spcPts val="1200"/>
              </a:spcAft>
            </a:pPr>
            <a:r>
              <a:rPr sz="1300" b="0" i="0">
                <a:solidFill>
                  <a:srgbClr val="616161"/>
                </a:solidFill>
                <a:latin typeface="Proxima Nova"/>
              </a:rPr>
              <a:t>AI-driven analysis ensures that educational materials and staffing are allocated based on current classroom needs.</a:t>
            </a:r>
          </a:p>
        </p:txBody>
      </p:sp>
      <p:sp>
        <p:nvSpPr>
          <p:cNvPr id="14" name="Rectangle 13"/>
          <p:cNvSpPr/>
          <p:nvPr/>
        </p:nvSpPr>
        <p:spPr>
          <a:xfrm>
            <a:off x="3225700" y="1508670"/>
            <a:ext cx="2692449"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19451"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19451"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jmtnr1b1.png"/>
          <p:cNvPicPr>
            <a:picLocks noChangeAspect="1"/>
          </p:cNvPicPr>
          <p:nvPr/>
        </p:nvPicPr>
        <p:blipFill>
          <a:blip r:embed="rId4"/>
          <a:stretch>
            <a:fillRect/>
          </a:stretch>
        </p:blipFill>
        <p:spPr>
          <a:xfrm>
            <a:off x="4419451" y="1508670"/>
            <a:ext cx="304800" cy="304800"/>
          </a:xfrm>
          <a:prstGeom prst="rect">
            <a:avLst/>
          </a:prstGeom>
        </p:spPr>
      </p:pic>
      <p:sp>
        <p:nvSpPr>
          <p:cNvPr id="18" name="TextBox 17"/>
          <p:cNvSpPr txBox="1"/>
          <p:nvPr/>
        </p:nvSpPr>
        <p:spPr>
          <a:xfrm>
            <a:off x="3225700" y="1965870"/>
            <a:ext cx="2692449" cy="411360"/>
          </a:xfrm>
          <a:prstGeom prst="rect">
            <a:avLst/>
          </a:prstGeom>
          <a:noFill/>
          <a:ln>
            <a:noFill/>
          </a:ln>
        </p:spPr>
        <p:txBody>
          <a:bodyPr wrap="square" lIns="0" tIns="0" rIns="0" bIns="0" anchor="t">
            <a:spAutoFit/>
          </a:bodyPr>
          <a:lstStyle/>
          <a:p>
            <a:pPr algn="ctr"/>
            <a:r>
              <a:rPr sz="1300" b="1" i="0">
                <a:solidFill>
                  <a:srgbClr val="616161"/>
                </a:solidFill>
                <a:latin typeface="Proxima Nova"/>
              </a:rPr>
              <a:t>Automated Administrative Workflows</a:t>
            </a:r>
          </a:p>
          <a:p>
            <a:pPr algn="ctr">
              <a:spcAft>
                <a:spcPts val="1200"/>
              </a:spcAft>
            </a:pPr>
            <a:r>
              <a:rPr sz="1300" b="0" i="0">
                <a:solidFill>
                  <a:srgbClr val="616161"/>
                </a:solidFill>
                <a:latin typeface="Proxima Nova"/>
              </a:rPr>
              <a:t>Reduces workload by streamlining routine tasks like scheduling and document processing.</a:t>
            </a:r>
          </a:p>
        </p:txBody>
      </p:sp>
      <p:sp>
        <p:nvSpPr>
          <p:cNvPr id="19" name="Rectangle 18"/>
          <p:cNvSpPr/>
          <p:nvPr/>
        </p:nvSpPr>
        <p:spPr>
          <a:xfrm>
            <a:off x="6222950" y="1508670"/>
            <a:ext cx="2692300"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16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6700" y="1508670"/>
            <a:ext cx="304800" cy="304800"/>
          </a:xfrm>
          <a:prstGeom prst="rect">
            <a:avLst/>
          </a:prstGeom>
          <a:noFill/>
          <a:ln>
            <a:noFill/>
          </a:ln>
        </p:spPr>
        <p:txBody>
          <a:bodyPr wrap="square" lIns="0" tIns="0" rIns="0" bIns="0" anchor="t">
            <a:spAutoFit/>
          </a:bodyPr>
          <a:lstStyle/>
          <a:p>
            <a:pPr algn="ctr"/>
            <a:endParaRPr/>
          </a:p>
        </p:txBody>
      </p:sp>
      <p:pic>
        <p:nvPicPr>
          <p:cNvPr id="22" name="Picture 21" descr="tmp3kq39zho.png"/>
          <p:cNvPicPr>
            <a:picLocks noChangeAspect="1"/>
          </p:cNvPicPr>
          <p:nvPr/>
        </p:nvPicPr>
        <p:blipFill>
          <a:blip r:embed="rId5"/>
          <a:stretch>
            <a:fillRect/>
          </a:stretch>
        </p:blipFill>
        <p:spPr>
          <a:xfrm>
            <a:off x="7416700" y="1508670"/>
            <a:ext cx="304800" cy="304800"/>
          </a:xfrm>
          <a:prstGeom prst="rect">
            <a:avLst/>
          </a:prstGeom>
        </p:spPr>
      </p:pic>
      <p:sp>
        <p:nvSpPr>
          <p:cNvPr id="23" name="TextBox 22"/>
          <p:cNvSpPr txBox="1"/>
          <p:nvPr/>
        </p:nvSpPr>
        <p:spPr>
          <a:xfrm>
            <a:off x="622295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Enhanced Collaboration</a:t>
            </a:r>
          </a:p>
          <a:p>
            <a:pPr algn="ctr">
              <a:spcAft>
                <a:spcPts val="1200"/>
              </a:spcAft>
            </a:pPr>
            <a:r>
              <a:rPr sz="1300" b="0" i="0">
                <a:solidFill>
                  <a:srgbClr val="616161"/>
                </a:solidFill>
                <a:latin typeface="Proxima Nova"/>
              </a:rPr>
              <a:t>Facilitates communication between schools, educators, and community partners for improved learning experiences.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Smart Privacy Protection</a:t>
            </a:r>
          </a:p>
        </p:txBody>
      </p:sp>
      <p:sp>
        <p:nvSpPr>
          <p:cNvPr id="4" name="Subtitle 3"/>
          <p:cNvSpPr>
            <a:spLocks noGrp="1"/>
          </p:cNvSpPr>
          <p:nvPr>
            <p:ph type="subTitle" idx="13"/>
          </p:nvPr>
        </p:nvSpPr>
        <p:spPr/>
        <p:txBody>
          <a:bodyPr>
            <a:normAutofit/>
          </a:bodyPr>
          <a:lstStyle/>
          <a:p>
            <a:r>
              <a:t>AI-powered security for student data</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2140743"/>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AI-Driven Data Filtering:</a:t>
            </a:r>
            <a:r>
              <a:rPr sz="1300" b="0" i="0">
                <a:solidFill>
                  <a:srgbClr val="616161"/>
                </a:solidFill>
                <a:latin typeface="Proxima Nova"/>
              </a:rPr>
              <a:t> Automatically detects and removes sensitive student information before sharing data.</a:t>
            </a:r>
          </a:p>
          <a:p>
            <a:pPr marL="228600" lvl="1" indent="-91440" algn="l">
              <a:spcBef>
                <a:spcPts val="1200"/>
              </a:spcBef>
              <a:spcAft>
                <a:spcPts val="0"/>
              </a:spcAft>
              <a:buSzPct val="100000"/>
              <a:buFont typeface="Arial"/>
              <a:buChar char="•"/>
            </a:pPr>
            <a:r>
              <a:rPr sz="1300" b="1" i="0">
                <a:solidFill>
                  <a:srgbClr val="616161"/>
                </a:solidFill>
                <a:latin typeface="Proxima Nova"/>
              </a:rPr>
              <a:t>Compliance with Regulations:</a:t>
            </a:r>
            <a:r>
              <a:rPr sz="1300" b="0" i="0">
                <a:solidFill>
                  <a:srgbClr val="616161"/>
                </a:solidFill>
                <a:latin typeface="Proxima Nova"/>
              </a:rPr>
              <a:t> Ensures adherence to FERPA and other educational privacy laws.</a:t>
            </a:r>
          </a:p>
          <a:p>
            <a:pPr marL="228600" lvl="1" indent="-91440" algn="l">
              <a:spcBef>
                <a:spcPts val="1200"/>
              </a:spcBef>
              <a:spcAft>
                <a:spcPts val="0"/>
              </a:spcAft>
              <a:buSzPct val="100000"/>
              <a:buFont typeface="Arial"/>
              <a:buChar char="•"/>
            </a:pPr>
            <a:r>
              <a:rPr sz="1300" b="1" i="0">
                <a:solidFill>
                  <a:srgbClr val="616161"/>
                </a:solidFill>
                <a:latin typeface="Proxima Nova"/>
              </a:rPr>
              <a:t>Access Control &amp; Security:</a:t>
            </a:r>
            <a:r>
              <a:rPr sz="1300" b="0" i="0">
                <a:solidFill>
                  <a:srgbClr val="616161"/>
                </a:solidFill>
                <a:latin typeface="Proxima Nova"/>
              </a:rPr>
              <a:t> Manages user permissions dynamically to prevent unauthorized access.</a:t>
            </a:r>
          </a:p>
        </p:txBody>
      </p:sp>
      <p:sp>
        <p:nvSpPr>
          <p:cNvPr id="10" name="Rectangle 9"/>
          <p:cNvSpPr/>
          <p:nvPr/>
        </p:nvSpPr>
        <p:spPr>
          <a:xfrm>
            <a:off x="47244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descr="tmpswv6qg1u.png"/>
          <p:cNvPicPr>
            <a:picLocks noChangeAspect="1"/>
          </p:cNvPicPr>
          <p:nvPr/>
        </p:nvPicPr>
        <p:blipFill>
          <a:blip r:embed="rId3"/>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4400" y="3947070"/>
            <a:ext cx="4190999" cy="152400"/>
          </a:xfrm>
          <a:prstGeom prst="rect">
            <a:avLst/>
          </a:prstGeom>
          <a:noFill/>
          <a:ln>
            <a:noFill/>
          </a:ln>
        </p:spPr>
        <p:txBody>
          <a:bodyPr wrap="square" lIns="0" tIns="0" rIns="0" bIns="0" anchor="t">
            <a:spAutoFit/>
          </a:bodyPr>
          <a:lstStyle/>
          <a:p>
            <a:pPr algn="r">
              <a:spcAft>
                <a:spcPts val="1200"/>
              </a:spcAft>
            </a:pPr>
            <a:r>
              <a:rPr sz="900" b="0" i="0">
                <a:solidFill>
                  <a:srgbClr val="616161"/>
                </a:solidFill>
                <a:latin typeface="Proxima Nova"/>
              </a:rPr>
              <a:t>Photo by Lianhao Qu on Unsplash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Creating True Educational Integration</a:t>
            </a:r>
          </a:p>
        </p:txBody>
      </p:sp>
      <p:sp>
        <p:nvSpPr>
          <p:cNvPr id="4" name="Subtitle 3"/>
          <p:cNvSpPr>
            <a:spLocks noGrp="1"/>
          </p:cNvSpPr>
          <p:nvPr>
            <p:ph type="subTitle" idx="13"/>
          </p:nvPr>
        </p:nvSpPr>
        <p:spPr/>
        <p:txBody>
          <a:bodyPr>
            <a:normAutofit/>
          </a:bodyPr>
          <a:lstStyle/>
          <a:p>
            <a:r>
              <a:t>Seamless AI-powered connectivity between schools and partners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2140743"/>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Interconnected Learning Systems:</a:t>
            </a:r>
            <a:r>
              <a:rPr sz="1300" b="0" i="0">
                <a:solidFill>
                  <a:srgbClr val="616161"/>
                </a:solidFill>
                <a:latin typeface="Proxima Nova"/>
              </a:rPr>
              <a:t> Facilitates seamless data flow between classrooms, districts, and educational tools.</a:t>
            </a:r>
          </a:p>
          <a:p>
            <a:pPr marL="228600" lvl="1" indent="-91440" algn="l">
              <a:spcBef>
                <a:spcPts val="1200"/>
              </a:spcBef>
              <a:spcAft>
                <a:spcPts val="0"/>
              </a:spcAft>
              <a:buSzPct val="100000"/>
              <a:buFont typeface="Arial"/>
              <a:buChar char="•"/>
            </a:pPr>
            <a:r>
              <a:rPr sz="1300" b="1" i="0">
                <a:solidFill>
                  <a:srgbClr val="616161"/>
                </a:solidFill>
                <a:latin typeface="Proxima Nova"/>
              </a:rPr>
              <a:t>Collaboration Across Institutions:</a:t>
            </a:r>
            <a:r>
              <a:rPr sz="1300" b="0" i="0">
                <a:solidFill>
                  <a:srgbClr val="616161"/>
                </a:solidFill>
                <a:latin typeface="Proxima Nova"/>
              </a:rPr>
              <a:t> Enables partnerships between schools, libraries, and external learning providers.</a:t>
            </a:r>
          </a:p>
          <a:p>
            <a:pPr marL="228600" lvl="1" indent="-91440" algn="l">
              <a:spcBef>
                <a:spcPts val="1200"/>
              </a:spcBef>
              <a:spcAft>
                <a:spcPts val="0"/>
              </a:spcAft>
              <a:buSzPct val="100000"/>
              <a:buFont typeface="Arial"/>
              <a:buChar char="•"/>
            </a:pPr>
            <a:r>
              <a:rPr sz="1300" b="1" i="0">
                <a:solidFill>
                  <a:srgbClr val="616161"/>
                </a:solidFill>
                <a:latin typeface="Proxima Nova"/>
              </a:rPr>
              <a:t>EdTech Integration:</a:t>
            </a:r>
            <a:r>
              <a:rPr sz="1300" b="0" i="0">
                <a:solidFill>
                  <a:srgbClr val="616161"/>
                </a:solidFill>
                <a:latin typeface="Proxima Nova"/>
              </a:rPr>
              <a:t> Supports third-party tools while maintaining security and compliance.</a:t>
            </a:r>
          </a:p>
        </p:txBody>
      </p:sp>
      <p:sp>
        <p:nvSpPr>
          <p:cNvPr id="10" name="Rectangle 9"/>
          <p:cNvSpPr/>
          <p:nvPr/>
        </p:nvSpPr>
        <p:spPr>
          <a:xfrm>
            <a:off x="47244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descr="tmpoizpmwf1.png"/>
          <p:cNvPicPr>
            <a:picLocks noChangeAspect="1"/>
          </p:cNvPicPr>
          <p:nvPr/>
        </p:nvPicPr>
        <p:blipFill>
          <a:blip r:embed="rId3"/>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4400" y="3947070"/>
            <a:ext cx="4190999" cy="152400"/>
          </a:xfrm>
          <a:prstGeom prst="rect">
            <a:avLst/>
          </a:prstGeom>
          <a:noFill/>
          <a:ln>
            <a:noFill/>
          </a:ln>
        </p:spPr>
        <p:txBody>
          <a:bodyPr wrap="square" lIns="0" tIns="0" rIns="0" bIns="0" anchor="t">
            <a:spAutoFit/>
          </a:bodyPr>
          <a:lstStyle/>
          <a:p>
            <a:pPr algn="r">
              <a:spcAft>
                <a:spcPts val="1200"/>
              </a:spcAft>
            </a:pPr>
            <a:r>
              <a:rPr sz="900" b="0" i="0">
                <a:solidFill>
                  <a:srgbClr val="616161"/>
                </a:solidFill>
                <a:latin typeface="Proxima Nova"/>
              </a:rPr>
              <a:t>Photo by stem.T4L on Unsplash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The Result: A Connected Learning Community</a:t>
            </a:r>
          </a:p>
        </p:txBody>
      </p:sp>
      <p:sp>
        <p:nvSpPr>
          <p:cNvPr id="4" name="Subtitle 3"/>
          <p:cNvSpPr>
            <a:spLocks noGrp="1"/>
          </p:cNvSpPr>
          <p:nvPr>
            <p:ph type="subTitle" idx="13"/>
          </p:nvPr>
        </p:nvSpPr>
        <p:spPr/>
        <p:txBody>
          <a:bodyPr>
            <a:normAutofit/>
          </a:bodyPr>
          <a:lstStyle/>
          <a:p>
            <a:r>
              <a:t>How AI transforms collaboration in education</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26923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4223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2235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sijq4yds.png"/>
          <p:cNvPicPr>
            <a:picLocks noChangeAspect="1"/>
          </p:cNvPicPr>
          <p:nvPr/>
        </p:nvPicPr>
        <p:blipFill>
          <a:blip r:embed="rId3"/>
          <a:stretch>
            <a:fillRect/>
          </a:stretch>
        </p:blipFill>
        <p:spPr>
          <a:xfrm>
            <a:off x="1422350" y="1508670"/>
            <a:ext cx="304800" cy="304800"/>
          </a:xfrm>
          <a:prstGeom prst="rect">
            <a:avLst/>
          </a:prstGeom>
        </p:spPr>
      </p:pic>
      <p:sp>
        <p:nvSpPr>
          <p:cNvPr id="13" name="TextBox 12"/>
          <p:cNvSpPr txBox="1"/>
          <p:nvPr/>
        </p:nvSpPr>
        <p:spPr>
          <a:xfrm>
            <a:off x="22860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Seamless Information Flow</a:t>
            </a:r>
          </a:p>
          <a:p>
            <a:pPr algn="ctr">
              <a:spcAft>
                <a:spcPts val="1200"/>
              </a:spcAft>
            </a:pPr>
            <a:r>
              <a:rPr sz="1300" b="0" i="0">
                <a:solidFill>
                  <a:srgbClr val="616161"/>
                </a:solidFill>
                <a:latin typeface="Proxima Nova"/>
              </a:rPr>
              <a:t>AI ensures secure, real-time data sharing between teachers, students, and families.</a:t>
            </a:r>
          </a:p>
        </p:txBody>
      </p:sp>
      <p:sp>
        <p:nvSpPr>
          <p:cNvPr id="14" name="Rectangle 13"/>
          <p:cNvSpPr/>
          <p:nvPr/>
        </p:nvSpPr>
        <p:spPr>
          <a:xfrm>
            <a:off x="3225700" y="1508670"/>
            <a:ext cx="269244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19451"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19451"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k6jjei76.png"/>
          <p:cNvPicPr>
            <a:picLocks noChangeAspect="1"/>
          </p:cNvPicPr>
          <p:nvPr/>
        </p:nvPicPr>
        <p:blipFill>
          <a:blip r:embed="rId4"/>
          <a:stretch>
            <a:fillRect/>
          </a:stretch>
        </p:blipFill>
        <p:spPr>
          <a:xfrm>
            <a:off x="4419451" y="1508670"/>
            <a:ext cx="304800" cy="304800"/>
          </a:xfrm>
          <a:prstGeom prst="rect">
            <a:avLst/>
          </a:prstGeom>
        </p:spPr>
      </p:pic>
      <p:sp>
        <p:nvSpPr>
          <p:cNvPr id="18" name="TextBox 17"/>
          <p:cNvSpPr txBox="1"/>
          <p:nvPr/>
        </p:nvSpPr>
        <p:spPr>
          <a:xfrm>
            <a:off x="3225700" y="1965870"/>
            <a:ext cx="269244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Fostering New Partnerships</a:t>
            </a:r>
          </a:p>
          <a:p>
            <a:pPr algn="ctr">
              <a:spcAft>
                <a:spcPts val="1200"/>
              </a:spcAft>
            </a:pPr>
            <a:r>
              <a:rPr sz="1300" b="0" i="0">
                <a:solidFill>
                  <a:srgbClr val="616161"/>
                </a:solidFill>
                <a:latin typeface="Proxima Nova"/>
              </a:rPr>
              <a:t>Enables quick collaboration between schools, businesses, and learning organizations.</a:t>
            </a:r>
          </a:p>
        </p:txBody>
      </p:sp>
      <p:sp>
        <p:nvSpPr>
          <p:cNvPr id="19" name="Rectangle 18"/>
          <p:cNvSpPr/>
          <p:nvPr/>
        </p:nvSpPr>
        <p:spPr>
          <a:xfrm>
            <a:off x="6222950" y="1508670"/>
            <a:ext cx="26923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16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6700" y="1508670"/>
            <a:ext cx="304800" cy="304800"/>
          </a:xfrm>
          <a:prstGeom prst="rect">
            <a:avLst/>
          </a:prstGeom>
          <a:noFill/>
          <a:ln>
            <a:noFill/>
          </a:ln>
        </p:spPr>
        <p:txBody>
          <a:bodyPr wrap="square" lIns="0" tIns="0" rIns="0" bIns="0" anchor="t">
            <a:spAutoFit/>
          </a:bodyPr>
          <a:lstStyle/>
          <a:p>
            <a:pPr algn="ctr"/>
            <a:endParaRPr/>
          </a:p>
        </p:txBody>
      </p:sp>
      <p:pic>
        <p:nvPicPr>
          <p:cNvPr id="22" name="Picture 21" descr="tmpk0as0ekm.png"/>
          <p:cNvPicPr>
            <a:picLocks noChangeAspect="1"/>
          </p:cNvPicPr>
          <p:nvPr/>
        </p:nvPicPr>
        <p:blipFill>
          <a:blip r:embed="rId5"/>
          <a:stretch>
            <a:fillRect/>
          </a:stretch>
        </p:blipFill>
        <p:spPr>
          <a:xfrm>
            <a:off x="7416700" y="1508670"/>
            <a:ext cx="304800" cy="304800"/>
          </a:xfrm>
          <a:prstGeom prst="rect">
            <a:avLst/>
          </a:prstGeom>
        </p:spPr>
      </p:pic>
      <p:sp>
        <p:nvSpPr>
          <p:cNvPr id="23" name="TextBox 22"/>
          <p:cNvSpPr txBox="1"/>
          <p:nvPr/>
        </p:nvSpPr>
        <p:spPr>
          <a:xfrm>
            <a:off x="622295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Optimized Educational Innovation</a:t>
            </a:r>
          </a:p>
          <a:p>
            <a:pPr algn="ctr">
              <a:spcAft>
                <a:spcPts val="1200"/>
              </a:spcAft>
            </a:pPr>
            <a:r>
              <a:rPr sz="1300" b="0" i="0">
                <a:solidFill>
                  <a:srgbClr val="616161"/>
                </a:solidFill>
                <a:latin typeface="Proxima Nova"/>
              </a:rPr>
              <a:t>Allows for dynamic, student-centered learning through real-time data insights.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Conclusion: The Future of AI in Education</a:t>
            </a:r>
          </a:p>
        </p:txBody>
      </p:sp>
      <p:sp>
        <p:nvSpPr>
          <p:cNvPr id="4" name="Subtitle 3"/>
          <p:cNvSpPr>
            <a:spLocks noGrp="1"/>
          </p:cNvSpPr>
          <p:nvPr>
            <p:ph type="subTitle" idx="13"/>
          </p:nvPr>
        </p:nvSpPr>
        <p:spPr/>
        <p:txBody>
          <a:bodyPr>
            <a:normAutofit/>
          </a:bodyPr>
          <a:lstStyle/>
          <a:p>
            <a:r>
              <a:t>Empowering the next generation through intelligent data integration</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26923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4223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2235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scnxeta_.png"/>
          <p:cNvPicPr>
            <a:picLocks noChangeAspect="1"/>
          </p:cNvPicPr>
          <p:nvPr/>
        </p:nvPicPr>
        <p:blipFill>
          <a:blip r:embed="rId3"/>
          <a:stretch>
            <a:fillRect/>
          </a:stretch>
        </p:blipFill>
        <p:spPr>
          <a:xfrm>
            <a:off x="1422350" y="1508670"/>
            <a:ext cx="304800" cy="304800"/>
          </a:xfrm>
          <a:prstGeom prst="rect">
            <a:avLst/>
          </a:prstGeom>
        </p:spPr>
      </p:pic>
      <p:sp>
        <p:nvSpPr>
          <p:cNvPr id="13" name="TextBox 12"/>
          <p:cNvSpPr txBox="1"/>
          <p:nvPr/>
        </p:nvSpPr>
        <p:spPr>
          <a:xfrm>
            <a:off x="22860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Revolutionizing Learning</a:t>
            </a:r>
          </a:p>
          <a:p>
            <a:pPr algn="ctr">
              <a:spcAft>
                <a:spcPts val="1200"/>
              </a:spcAft>
            </a:pPr>
            <a:r>
              <a:rPr sz="1300" b="0" i="0">
                <a:solidFill>
                  <a:srgbClr val="616161"/>
                </a:solidFill>
                <a:latin typeface="Proxima Nova"/>
              </a:rPr>
              <a:t>AI-driven tools are transforming how educators, students, and schools interact with data.</a:t>
            </a:r>
          </a:p>
        </p:txBody>
      </p:sp>
      <p:sp>
        <p:nvSpPr>
          <p:cNvPr id="14" name="Rectangle 13"/>
          <p:cNvSpPr/>
          <p:nvPr/>
        </p:nvSpPr>
        <p:spPr>
          <a:xfrm>
            <a:off x="3225700" y="1508670"/>
            <a:ext cx="269244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19451"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19451"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h5f_dcto.png"/>
          <p:cNvPicPr>
            <a:picLocks noChangeAspect="1"/>
          </p:cNvPicPr>
          <p:nvPr/>
        </p:nvPicPr>
        <p:blipFill>
          <a:blip r:embed="rId4"/>
          <a:stretch>
            <a:fillRect/>
          </a:stretch>
        </p:blipFill>
        <p:spPr>
          <a:xfrm>
            <a:off x="4419451" y="1508670"/>
            <a:ext cx="304800" cy="304800"/>
          </a:xfrm>
          <a:prstGeom prst="rect">
            <a:avLst/>
          </a:prstGeom>
        </p:spPr>
      </p:pic>
      <p:sp>
        <p:nvSpPr>
          <p:cNvPr id="18" name="TextBox 17"/>
          <p:cNvSpPr txBox="1"/>
          <p:nvPr/>
        </p:nvSpPr>
        <p:spPr>
          <a:xfrm>
            <a:off x="3225700" y="1965870"/>
            <a:ext cx="269244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Enhancing Security &amp; Compliance</a:t>
            </a:r>
          </a:p>
          <a:p>
            <a:pPr algn="ctr">
              <a:spcAft>
                <a:spcPts val="1200"/>
              </a:spcAft>
            </a:pPr>
            <a:r>
              <a:rPr sz="1300" b="0" i="0">
                <a:solidFill>
                  <a:srgbClr val="616161"/>
                </a:solidFill>
                <a:latin typeface="Proxima Nova"/>
              </a:rPr>
              <a:t>Ensures student privacy while enabling efficient, real-time collaboration.</a:t>
            </a:r>
          </a:p>
        </p:txBody>
      </p:sp>
      <p:sp>
        <p:nvSpPr>
          <p:cNvPr id="19" name="Rectangle 18"/>
          <p:cNvSpPr/>
          <p:nvPr/>
        </p:nvSpPr>
        <p:spPr>
          <a:xfrm>
            <a:off x="6222950" y="1508670"/>
            <a:ext cx="26923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16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6700" y="1508670"/>
            <a:ext cx="304800" cy="304800"/>
          </a:xfrm>
          <a:prstGeom prst="rect">
            <a:avLst/>
          </a:prstGeom>
          <a:noFill/>
          <a:ln>
            <a:noFill/>
          </a:ln>
        </p:spPr>
        <p:txBody>
          <a:bodyPr wrap="square" lIns="0" tIns="0" rIns="0" bIns="0" anchor="t">
            <a:spAutoFit/>
          </a:bodyPr>
          <a:lstStyle/>
          <a:p>
            <a:pPr algn="ctr"/>
            <a:endParaRPr/>
          </a:p>
        </p:txBody>
      </p:sp>
      <p:pic>
        <p:nvPicPr>
          <p:cNvPr id="22" name="Picture 21" descr="tmpx4r3z5v2.png"/>
          <p:cNvPicPr>
            <a:picLocks noChangeAspect="1"/>
          </p:cNvPicPr>
          <p:nvPr/>
        </p:nvPicPr>
        <p:blipFill>
          <a:blip r:embed="rId5"/>
          <a:stretch>
            <a:fillRect/>
          </a:stretch>
        </p:blipFill>
        <p:spPr>
          <a:xfrm>
            <a:off x="7416700" y="1508670"/>
            <a:ext cx="304800" cy="304800"/>
          </a:xfrm>
          <a:prstGeom prst="rect">
            <a:avLst/>
          </a:prstGeom>
        </p:spPr>
      </p:pic>
      <p:sp>
        <p:nvSpPr>
          <p:cNvPr id="23" name="TextBox 22"/>
          <p:cNvSpPr txBox="1"/>
          <p:nvPr/>
        </p:nvSpPr>
        <p:spPr>
          <a:xfrm>
            <a:off x="622295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Scalable &amp; Future-Proof</a:t>
            </a:r>
          </a:p>
          <a:p>
            <a:pPr algn="ctr">
              <a:spcAft>
                <a:spcPts val="1200"/>
              </a:spcAft>
            </a:pPr>
            <a:r>
              <a:rPr sz="1300" b="0" i="0">
                <a:solidFill>
                  <a:srgbClr val="616161"/>
                </a:solidFill>
                <a:latin typeface="Proxima Nova"/>
              </a:rPr>
              <a:t>Built to evolve with the changing landscape of education technology.</a:t>
            </a:r>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1023</Words>
  <Application>Microsoft Macintosh PowerPoint</Application>
  <PresentationFormat>On-screen Show (16:9)</PresentationFormat>
  <Paragraphs>57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Proxima Nova</vt:lpstr>
      <vt:lpstr>Spearmint</vt:lpstr>
      <vt:lpstr>Revolutionizing K-12 Data Management</vt:lpstr>
      <vt:lpstr>Smart Learning Data Organization</vt:lpstr>
      <vt:lpstr>Resource Allocation Intelligence</vt:lpstr>
      <vt:lpstr>Smart Privacy Protection</vt:lpstr>
      <vt:lpstr>Creating True Educational Integration</vt:lpstr>
      <vt:lpstr>The Result: A Connected Learning Community</vt:lpstr>
      <vt:lpstr>Conclusion: The Future of AI in Education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Giselle Santos</cp:lastModifiedBy>
  <cp:revision>3</cp:revision>
  <dcterms:modified xsi:type="dcterms:W3CDTF">2025-02-21T16:43:11Z</dcterms:modified>
</cp:coreProperties>
</file>